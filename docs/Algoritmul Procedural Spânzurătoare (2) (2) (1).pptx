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 mediu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9B6FE5B7-A079-476B-DE06-D624BEB49A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BA207F8C-F49E-9EAE-A40E-CC34B38179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233C4AD1-C4E0-C0A1-79E5-4AED9A4F7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D3A41-5B79-4EA6-900F-DAB34AA2AC14}" type="datetimeFigureOut">
              <a:rPr lang="ro-RO" smtClean="0"/>
              <a:t>08.12.2025</a:t>
            </a:fld>
            <a:endParaRPr lang="ro-RO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02D272DC-DFCC-015C-7FC7-E9E8685AB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33C525B4-1518-92BF-856A-A83A17145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C0A13-EBA7-4FDE-8F76-6324B024A052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81435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B17AA001-A592-BFFC-0D82-05E1A1600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D3F1FAE8-2951-308E-2E37-95E9391B6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AAEA6ACF-B335-06CE-66A4-68C3AEAFA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D3A41-5B79-4EA6-900F-DAB34AA2AC14}" type="datetimeFigureOut">
              <a:rPr lang="ro-RO" smtClean="0"/>
              <a:t>08.12.2025</a:t>
            </a:fld>
            <a:endParaRPr lang="ro-RO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9A525906-C8F4-158E-A1D0-137A40498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A8D002E0-35C7-2379-CC8F-3BA4A7845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C0A13-EBA7-4FDE-8F76-6324B024A052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50797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9F3FDBCD-8621-3CA0-BF7F-AA1C760FD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2964FE8B-D238-F336-2E8D-F04388114B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8C2D02EB-878D-6ED2-10E6-F1E7AA52B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D3A41-5B79-4EA6-900F-DAB34AA2AC14}" type="datetimeFigureOut">
              <a:rPr lang="ro-RO" smtClean="0"/>
              <a:t>08.12.2025</a:t>
            </a:fld>
            <a:endParaRPr lang="ro-RO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8FE6B64D-D570-05B7-D6BC-5EE3A0EA8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43EBD093-8ACF-D2E3-E0A6-F53A45592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C0A13-EBA7-4FDE-8F76-6324B024A052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22243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6F73E59-F3D8-DA8F-11ED-AC0D45B38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C40DA177-2D50-C7AC-9814-680F99DD07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31D8F2A0-BFB8-BF0C-57FF-045FF6CB34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E6BF45E5-FC64-A120-46F3-39E619A0C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D3A41-5B79-4EA6-900F-DAB34AA2AC14}" type="datetimeFigureOut">
              <a:rPr lang="ro-RO" smtClean="0"/>
              <a:t>08.12.2025</a:t>
            </a:fld>
            <a:endParaRPr lang="ro-RO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832D4636-C549-AF2D-F696-1F15788D5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1456EDB5-39C0-6D1E-CD36-94EE2C375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C0A13-EBA7-4FDE-8F76-6324B024A052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530914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B410441A-5C21-E925-2DE2-3528B0B48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F20DDBF9-FB99-1FB4-3A4E-649955050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DAEFD605-FA12-2113-C7A2-E48750251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text 4">
            <a:extLst>
              <a:ext uri="{FF2B5EF4-FFF2-40B4-BE49-F238E27FC236}">
                <a16:creationId xmlns:a16="http://schemas.microsoft.com/office/drawing/2014/main" id="{A2E4F152-D316-D833-789B-92BF4F0762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6" name="Substituent conținut 5">
            <a:extLst>
              <a:ext uri="{FF2B5EF4-FFF2-40B4-BE49-F238E27FC236}">
                <a16:creationId xmlns:a16="http://schemas.microsoft.com/office/drawing/2014/main" id="{9FB04FA3-CE92-8CFC-09CD-BF5DA5F8CC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7" name="Substituent dată 6">
            <a:extLst>
              <a:ext uri="{FF2B5EF4-FFF2-40B4-BE49-F238E27FC236}">
                <a16:creationId xmlns:a16="http://schemas.microsoft.com/office/drawing/2014/main" id="{E4E1361A-D3E7-B74B-558C-F575D7439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D3A41-5B79-4EA6-900F-DAB34AA2AC14}" type="datetimeFigureOut">
              <a:rPr lang="ro-RO" smtClean="0"/>
              <a:t>08.12.2025</a:t>
            </a:fld>
            <a:endParaRPr lang="ro-RO"/>
          </a:p>
        </p:txBody>
      </p:sp>
      <p:sp>
        <p:nvSpPr>
          <p:cNvPr id="8" name="Substituent subsol 7">
            <a:extLst>
              <a:ext uri="{FF2B5EF4-FFF2-40B4-BE49-F238E27FC236}">
                <a16:creationId xmlns:a16="http://schemas.microsoft.com/office/drawing/2014/main" id="{C28D0611-7DA8-A97C-9E4E-51343CA7D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ubstituent număr diapozitiv 8">
            <a:extLst>
              <a:ext uri="{FF2B5EF4-FFF2-40B4-BE49-F238E27FC236}">
                <a16:creationId xmlns:a16="http://schemas.microsoft.com/office/drawing/2014/main" id="{0F81540A-7EC8-2F73-F8D5-7088CFD45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C0A13-EBA7-4FDE-8F76-6324B024A052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52763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8D9A0562-5ABD-A4E2-A605-C307CF258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E5DF5882-8512-A33D-5FB9-05C975E81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D3A41-5B79-4EA6-900F-DAB34AA2AC14}" type="datetimeFigureOut">
              <a:rPr lang="ro-RO" smtClean="0"/>
              <a:t>08.12.2025</a:t>
            </a:fld>
            <a:endParaRPr lang="ro-RO"/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3A140D32-E229-38A8-41E5-C6D7AFF13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1E8BD8C2-A8F5-2FE7-1F71-988BDC149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C0A13-EBA7-4FDE-8F76-6324B024A052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68073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>
            <a:extLst>
              <a:ext uri="{FF2B5EF4-FFF2-40B4-BE49-F238E27FC236}">
                <a16:creationId xmlns:a16="http://schemas.microsoft.com/office/drawing/2014/main" id="{D8EC4C62-0045-B365-DDAA-9BB8BCD76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D3A41-5B79-4EA6-900F-DAB34AA2AC14}" type="datetimeFigureOut">
              <a:rPr lang="ro-RO" smtClean="0"/>
              <a:t>08.12.2025</a:t>
            </a:fld>
            <a:endParaRPr lang="ro-RO"/>
          </a:p>
        </p:txBody>
      </p:sp>
      <p:sp>
        <p:nvSpPr>
          <p:cNvPr id="3" name="Substituent subsol 2">
            <a:extLst>
              <a:ext uri="{FF2B5EF4-FFF2-40B4-BE49-F238E27FC236}">
                <a16:creationId xmlns:a16="http://schemas.microsoft.com/office/drawing/2014/main" id="{D9BD7E4A-5362-226C-0E1F-E6465C663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B280243B-05FB-6010-2E0D-91E187A6B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C0A13-EBA7-4FDE-8F76-6324B024A052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028573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C4FF639-C2FE-71EA-A814-30A18C89B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989041A3-C3F2-9B2E-91A1-4F624F19D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83A5C68F-AAEE-2B11-F770-B3C46B8F4F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6B1C0D73-01C8-A84B-C057-12C6AE2B4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D3A41-5B79-4EA6-900F-DAB34AA2AC14}" type="datetimeFigureOut">
              <a:rPr lang="ro-RO" smtClean="0"/>
              <a:t>08.12.2025</a:t>
            </a:fld>
            <a:endParaRPr lang="ro-RO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EAF82AF7-B5D1-E149-689E-6BE6B1B63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EF81F71E-F1B2-E0BE-207A-D4D2AC438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C0A13-EBA7-4FDE-8F76-6324B024A052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899521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ECB2927-5143-1CFF-0D57-F6E95FF9A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0D0528AB-008E-C7E1-015D-AD21FDA21E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10507859-4A15-FF8C-C075-AC22BF2EAB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EB4B5B32-0CE2-FD53-305C-3D98F97F4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D3A41-5B79-4EA6-900F-DAB34AA2AC14}" type="datetimeFigureOut">
              <a:rPr lang="ro-RO" smtClean="0"/>
              <a:t>08.12.2025</a:t>
            </a:fld>
            <a:endParaRPr lang="ro-RO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6048965E-B0B8-8F76-05F6-6CD8CE65C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62DDAFFF-8987-5795-2CB9-C0D12F23A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C0A13-EBA7-4FDE-8F76-6324B024A052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081482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B30C1C12-7415-63D7-B0BB-95AE10BA0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6298DB2B-F047-513D-F87C-E3E36D21BD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12256955-094D-5438-168F-B129A7105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D3A41-5B79-4EA6-900F-DAB34AA2AC14}" type="datetimeFigureOut">
              <a:rPr lang="ro-RO" smtClean="0"/>
              <a:t>08.12.2025</a:t>
            </a:fld>
            <a:endParaRPr lang="ro-RO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068457C9-0FF8-267F-3472-7CC3A75EF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41F309F6-593B-6097-846D-F09D05791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C0A13-EBA7-4FDE-8F76-6324B024A052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55660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>
            <a:extLst>
              <a:ext uri="{FF2B5EF4-FFF2-40B4-BE49-F238E27FC236}">
                <a16:creationId xmlns:a16="http://schemas.microsoft.com/office/drawing/2014/main" id="{FE4A3786-DB28-D712-15FC-F5BF9D0709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8E9B23D5-418A-EC35-A2E8-B4E7FAFF50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D35C8C81-B9E3-F649-B735-DB479EBFF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D3A41-5B79-4EA6-900F-DAB34AA2AC14}" type="datetimeFigureOut">
              <a:rPr lang="ro-RO" smtClean="0"/>
              <a:t>08.12.2025</a:t>
            </a:fld>
            <a:endParaRPr lang="ro-RO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7D10BF6-94F1-F9A1-4335-E137C6103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1110F052-CBBF-9B72-AB2D-B36FE3C46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C0A13-EBA7-4FDE-8F76-6324B024A052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696904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>
            <a:extLst>
              <a:ext uri="{FF2B5EF4-FFF2-40B4-BE49-F238E27FC236}">
                <a16:creationId xmlns:a16="http://schemas.microsoft.com/office/drawing/2014/main" id="{633B97EC-AED2-8E68-83D2-42F4D3A06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297CA296-BD84-04D7-CF50-AD9348C78E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6E6E9B25-47D8-9DFC-22E1-1062A0C9EE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AD3A41-5B79-4EA6-900F-DAB34AA2AC14}" type="datetimeFigureOut">
              <a:rPr lang="ro-RO" smtClean="0"/>
              <a:t>08.12.2025</a:t>
            </a:fld>
            <a:endParaRPr lang="ro-RO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CBF64E22-9780-16AD-72C7-263FB6D7EA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CCDC3AAD-E159-566B-B71E-6BF5264D98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3C0A13-EBA7-4FDE-8F76-6324B024A052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09625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9A6B2F0-8F8F-E752-017C-21458E20E6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ro-RO" sz="4400" dirty="0">
                <a:latin typeface="Bahnschrift SemiBold SemiConden" panose="020B0502040204020203" pitchFamily="34" charset="0"/>
              </a:rPr>
              <a:t>Algoritmul Procedural Spânzurătoarea</a:t>
            </a:r>
            <a:br>
              <a:rPr lang="en-US" sz="1800" dirty="0"/>
            </a:br>
            <a:r>
              <a:rPr lang="en-US" sz="2800" dirty="0"/>
              <a:t> </a:t>
            </a:r>
            <a:endParaRPr lang="ro-RO" sz="2800" dirty="0"/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3DE04763-023B-7A96-B52E-1AD60F96B4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8416" y="4952246"/>
            <a:ext cx="5009584" cy="1104522"/>
          </a:xfrm>
        </p:spPr>
        <p:txBody>
          <a:bodyPr/>
          <a:lstStyle/>
          <a:p>
            <a:pPr algn="l"/>
            <a:r>
              <a:rPr lang="en-US" dirty="0" err="1"/>
              <a:t>Nume</a:t>
            </a:r>
            <a:r>
              <a:rPr lang="ro-RO" dirty="0"/>
              <a:t> student</a:t>
            </a:r>
            <a:r>
              <a:rPr lang="en-US" dirty="0"/>
              <a:t>: </a:t>
            </a:r>
            <a:r>
              <a:rPr lang="en-US" dirty="0" err="1"/>
              <a:t>Podu</a:t>
            </a:r>
            <a:r>
              <a:rPr lang="ro-RO" dirty="0"/>
              <a:t>ț Alexandra Tania</a:t>
            </a:r>
          </a:p>
          <a:p>
            <a:pPr algn="l"/>
            <a:r>
              <a:rPr lang="ro-RO" dirty="0"/>
              <a:t>Specializarea</a:t>
            </a:r>
            <a:r>
              <a:rPr lang="en-US" dirty="0"/>
              <a:t>: </a:t>
            </a:r>
            <a:r>
              <a:rPr lang="ro-RO" dirty="0"/>
              <a:t>Informatică</a:t>
            </a:r>
            <a:r>
              <a:rPr lang="en-US" dirty="0"/>
              <a:t>, </a:t>
            </a:r>
            <a:r>
              <a:rPr lang="en-US" dirty="0" err="1"/>
              <a:t>anul</a:t>
            </a:r>
            <a:r>
              <a:rPr lang="en-US" dirty="0"/>
              <a:t> II</a:t>
            </a:r>
          </a:p>
          <a:p>
            <a:pPr algn="l"/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768385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41D3DDE-FDDA-5CF8-5A3B-C046BD243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 err="1">
                <a:latin typeface="Arial Black" panose="020B0A04020102020204" pitchFamily="34" charset="0"/>
              </a:rPr>
              <a:t>Descriere</a:t>
            </a:r>
            <a:r>
              <a:rPr lang="en-US" sz="3600" dirty="0">
                <a:latin typeface="Arial Black" panose="020B0A04020102020204" pitchFamily="34" charset="0"/>
              </a:rPr>
              <a:t> general</a:t>
            </a:r>
            <a:r>
              <a:rPr lang="ro-RO" sz="3600" dirty="0">
                <a:latin typeface="Arial Black" panose="020B0A04020102020204" pitchFamily="34" charset="0"/>
              </a:rPr>
              <a:t>ă a proiectului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692B988C-ECEF-1B33-7100-8AEB34C16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9212" y="1825625"/>
            <a:ext cx="9624588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ro-RO" dirty="0"/>
              <a:t>Joc de ghicit cuvinte în </a:t>
            </a:r>
            <a:r>
              <a:rPr lang="ro-RO" dirty="0" err="1"/>
              <a:t>Python</a:t>
            </a:r>
            <a:br>
              <a:rPr lang="en-US" dirty="0"/>
            </a:br>
            <a:r>
              <a:rPr lang="en-US" dirty="0"/>
              <a:t> </a:t>
            </a:r>
            <a:r>
              <a:rPr lang="ro-RO" dirty="0"/>
              <a:t>Procedural, bazat pe tipar și frecvența literelor</a:t>
            </a:r>
            <a:br>
              <a:rPr lang="en-US" dirty="0"/>
            </a:br>
            <a:r>
              <a:rPr lang="en-US" dirty="0"/>
              <a:t> </a:t>
            </a:r>
            <a:r>
              <a:rPr lang="ro-RO" dirty="0"/>
              <a:t>Prototip demonstrativ</a:t>
            </a:r>
          </a:p>
        </p:txBody>
      </p:sp>
      <p:sp>
        <p:nvSpPr>
          <p:cNvPr id="4" name="Săgeată: dreapta 3">
            <a:extLst>
              <a:ext uri="{FF2B5EF4-FFF2-40B4-BE49-F238E27FC236}">
                <a16:creationId xmlns:a16="http://schemas.microsoft.com/office/drawing/2014/main" id="{DE4A297B-24AB-673F-47A1-5F28B8A86BF5}"/>
              </a:ext>
            </a:extLst>
          </p:cNvPr>
          <p:cNvSpPr/>
          <p:nvPr/>
        </p:nvSpPr>
        <p:spPr>
          <a:xfrm>
            <a:off x="1318788" y="1955548"/>
            <a:ext cx="410424" cy="1901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5" name="Săgeată: dreapta 4">
            <a:extLst>
              <a:ext uri="{FF2B5EF4-FFF2-40B4-BE49-F238E27FC236}">
                <a16:creationId xmlns:a16="http://schemas.microsoft.com/office/drawing/2014/main" id="{3BE44D3E-F5E0-2FDA-640A-FD508CB8C3DE}"/>
              </a:ext>
            </a:extLst>
          </p:cNvPr>
          <p:cNvSpPr/>
          <p:nvPr/>
        </p:nvSpPr>
        <p:spPr>
          <a:xfrm>
            <a:off x="1318788" y="2315469"/>
            <a:ext cx="410424" cy="1901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6" name="Săgeată: dreapta 5">
            <a:extLst>
              <a:ext uri="{FF2B5EF4-FFF2-40B4-BE49-F238E27FC236}">
                <a16:creationId xmlns:a16="http://schemas.microsoft.com/office/drawing/2014/main" id="{4CCFE77A-18A1-B014-5912-C776C535CE52}"/>
              </a:ext>
            </a:extLst>
          </p:cNvPr>
          <p:cNvSpPr/>
          <p:nvPr/>
        </p:nvSpPr>
        <p:spPr>
          <a:xfrm>
            <a:off x="1318788" y="2675481"/>
            <a:ext cx="410424" cy="1901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pic>
        <p:nvPicPr>
          <p:cNvPr id="8" name="Imagine 7">
            <a:extLst>
              <a:ext uri="{FF2B5EF4-FFF2-40B4-BE49-F238E27FC236}">
                <a16:creationId xmlns:a16="http://schemas.microsoft.com/office/drawing/2014/main" id="{EC06007B-486C-890E-5ACD-391E94BF3B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2943" y="3239701"/>
            <a:ext cx="2786816" cy="283517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33462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F574E861-054B-6B17-372F-168BCF346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err="1">
                <a:latin typeface="Arial Rounded MT Bold" panose="020F0704030504030204" pitchFamily="34" charset="0"/>
              </a:rPr>
              <a:t>Tehnologii</a:t>
            </a:r>
            <a:r>
              <a:rPr lang="en-US" sz="4000" dirty="0">
                <a:latin typeface="Arial Rounded MT Bold" panose="020F0704030504030204" pitchFamily="34" charset="0"/>
              </a:rPr>
              <a:t> </a:t>
            </a:r>
            <a:r>
              <a:rPr lang="en-US" sz="4000" dirty="0" err="1">
                <a:latin typeface="Arial Rounded MT Bold" panose="020F0704030504030204" pitchFamily="34" charset="0"/>
              </a:rPr>
              <a:t>utilizate</a:t>
            </a:r>
            <a:endParaRPr lang="ro-RO" sz="4000" dirty="0">
              <a:latin typeface="Arial Rounded MT Bold" panose="020F0704030504030204" pitchFamily="34" charset="0"/>
            </a:endParaRP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4ED4DAE5-CC47-7A4C-9AD5-7432B5CDF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o-RO" dirty="0" err="1"/>
              <a:t>Python</a:t>
            </a:r>
            <a:r>
              <a:rPr lang="ro-RO" dirty="0"/>
              <a:t> 3.8+ – suport pentru tipuri moderne și sintaxă recentă 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Biblioteci</a:t>
            </a:r>
            <a:r>
              <a:rPr lang="ro-RO" dirty="0"/>
              <a:t> standard </a:t>
            </a:r>
            <a:r>
              <a:rPr lang="ro-RO" dirty="0" err="1"/>
              <a:t>Python</a:t>
            </a:r>
            <a:r>
              <a:rPr lang="ro-RO" dirty="0"/>
              <a:t>:</a:t>
            </a:r>
            <a:r>
              <a:rPr lang="en-US" dirty="0"/>
              <a:t> </a:t>
            </a:r>
          </a:p>
          <a:p>
            <a:r>
              <a:rPr lang="ro-RO" dirty="0" err="1"/>
              <a:t>unicodedata</a:t>
            </a:r>
            <a:r>
              <a:rPr lang="ro-RO" dirty="0"/>
              <a:t> → normalizare text și eliminare diacritice</a:t>
            </a:r>
            <a:endParaRPr lang="en-US" dirty="0"/>
          </a:p>
          <a:p>
            <a:r>
              <a:rPr lang="ro-RO" dirty="0" err="1"/>
              <a:t>collections</a:t>
            </a:r>
            <a:r>
              <a:rPr lang="ro-RO" dirty="0"/>
              <a:t> → contorizarea frecvenței literelor (</a:t>
            </a:r>
            <a:r>
              <a:rPr lang="ro-RO" dirty="0" err="1"/>
              <a:t>Counter</a:t>
            </a:r>
            <a:r>
              <a:rPr lang="ro-RO" dirty="0"/>
              <a:t>)</a:t>
            </a:r>
            <a:endParaRPr lang="en-US" dirty="0"/>
          </a:p>
          <a:p>
            <a:r>
              <a:rPr lang="ro-RO" dirty="0" err="1"/>
              <a:t>csv</a:t>
            </a:r>
            <a:r>
              <a:rPr lang="ro-RO" dirty="0"/>
              <a:t> → citire și salvare date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Mediu</a:t>
            </a:r>
            <a:r>
              <a:rPr lang="en-US" dirty="0"/>
              <a:t> de </a:t>
            </a:r>
            <a:r>
              <a:rPr lang="en-US" dirty="0" err="1"/>
              <a:t>dezvoltare</a:t>
            </a:r>
            <a:r>
              <a:rPr lang="ro-RO" dirty="0"/>
              <a:t>: </a:t>
            </a:r>
            <a:r>
              <a:rPr lang="ro-RO" dirty="0" err="1"/>
              <a:t>PyCharm</a:t>
            </a:r>
            <a:endParaRPr lang="en-US" dirty="0"/>
          </a:p>
          <a:p>
            <a:pPr marL="0" indent="0">
              <a:buNone/>
            </a:pPr>
            <a:r>
              <a:rPr lang="ro-RO" dirty="0"/>
              <a:t>Fișier text pentru dicționarul de cuvinte (.</a:t>
            </a:r>
            <a:r>
              <a:rPr lang="ro-RO" dirty="0" err="1"/>
              <a:t>txt</a:t>
            </a:r>
            <a:r>
              <a:rPr lang="ro-RO" dirty="0"/>
              <a:t>)</a:t>
            </a:r>
          </a:p>
        </p:txBody>
      </p:sp>
      <p:sp>
        <p:nvSpPr>
          <p:cNvPr id="4" name="Schemă logică: conector 3">
            <a:extLst>
              <a:ext uri="{FF2B5EF4-FFF2-40B4-BE49-F238E27FC236}">
                <a16:creationId xmlns:a16="http://schemas.microsoft.com/office/drawing/2014/main" id="{D0F521C0-D84B-6CFA-3ADE-581EAEB686D7}"/>
              </a:ext>
            </a:extLst>
          </p:cNvPr>
          <p:cNvSpPr/>
          <p:nvPr/>
        </p:nvSpPr>
        <p:spPr>
          <a:xfrm>
            <a:off x="657131" y="1973656"/>
            <a:ext cx="181069" cy="172016"/>
          </a:xfrm>
          <a:prstGeom prst="flowChartConnector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5" name="Schemă logică: conector 4">
            <a:extLst>
              <a:ext uri="{FF2B5EF4-FFF2-40B4-BE49-F238E27FC236}">
                <a16:creationId xmlns:a16="http://schemas.microsoft.com/office/drawing/2014/main" id="{A897D67C-BC7F-5E90-D101-DD44878FF1A0}"/>
              </a:ext>
            </a:extLst>
          </p:cNvPr>
          <p:cNvSpPr/>
          <p:nvPr/>
        </p:nvSpPr>
        <p:spPr>
          <a:xfrm>
            <a:off x="657130" y="4526733"/>
            <a:ext cx="181069" cy="172016"/>
          </a:xfrm>
          <a:prstGeom prst="flowChartConnector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6" name="Schemă logică: conector 5">
            <a:extLst>
              <a:ext uri="{FF2B5EF4-FFF2-40B4-BE49-F238E27FC236}">
                <a16:creationId xmlns:a16="http://schemas.microsoft.com/office/drawing/2014/main" id="{B45FEEEA-B2E7-AEED-D9E9-36B6BE25DA65}"/>
              </a:ext>
            </a:extLst>
          </p:cNvPr>
          <p:cNvSpPr/>
          <p:nvPr/>
        </p:nvSpPr>
        <p:spPr>
          <a:xfrm>
            <a:off x="657129" y="5033727"/>
            <a:ext cx="181069" cy="172016"/>
          </a:xfrm>
          <a:prstGeom prst="flowChartConnector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7" name="Schemă logică: conector 6">
            <a:extLst>
              <a:ext uri="{FF2B5EF4-FFF2-40B4-BE49-F238E27FC236}">
                <a16:creationId xmlns:a16="http://schemas.microsoft.com/office/drawing/2014/main" id="{54C5C806-1FF4-EF73-0D78-04CF456B0F25}"/>
              </a:ext>
            </a:extLst>
          </p:cNvPr>
          <p:cNvSpPr/>
          <p:nvPr/>
        </p:nvSpPr>
        <p:spPr>
          <a:xfrm>
            <a:off x="657129" y="2480650"/>
            <a:ext cx="181069" cy="172016"/>
          </a:xfrm>
          <a:prstGeom prst="flowChartConnector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36524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B56D40F-C992-4234-01C5-84CF63AE6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Bahnschrift SemiBold SemiConden" panose="020B0502040204020203" pitchFamily="34" charset="0"/>
              </a:rPr>
              <a:t>Analiza </a:t>
            </a:r>
            <a:r>
              <a:rPr lang="en-US" sz="4000" dirty="0" err="1">
                <a:latin typeface="Bahnschrift SemiBold SemiConden" panose="020B0502040204020203" pitchFamily="34" charset="0"/>
              </a:rPr>
              <a:t>jocului</a:t>
            </a:r>
            <a:r>
              <a:rPr lang="en-US" sz="4000" dirty="0">
                <a:latin typeface="Bahnschrift SemiBold SemiConden" panose="020B0502040204020203" pitchFamily="34" charset="0"/>
              </a:rPr>
              <a:t> </a:t>
            </a:r>
            <a:r>
              <a:rPr lang="en-US" sz="4000" dirty="0" err="1">
                <a:latin typeface="Bahnschrift SemiBold SemiConden" panose="020B0502040204020203" pitchFamily="34" charset="0"/>
              </a:rPr>
              <a:t>Sp</a:t>
            </a:r>
            <a:r>
              <a:rPr lang="ro-RO" sz="4000" dirty="0" err="1">
                <a:latin typeface="Bahnschrift SemiBold SemiConden" panose="020B0502040204020203" pitchFamily="34" charset="0"/>
              </a:rPr>
              <a:t>ânzurătoarea</a:t>
            </a:r>
            <a:endParaRPr lang="ro-RO" sz="4000" dirty="0">
              <a:latin typeface="Bahnschrift SemiBold SemiConden" panose="020B0502040204020203" pitchFamily="34" charset="0"/>
            </a:endParaRP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7398623E-44D2-A06A-2D42-DBE8EC944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Spațiul soluțiilor: toate cuvintele din dicționar cu lungimea potrivită tiparului</a:t>
            </a:r>
          </a:p>
          <a:p>
            <a:r>
              <a:rPr lang="ro-RO" dirty="0"/>
              <a:t>Euristici folosite: </a:t>
            </a:r>
          </a:p>
          <a:p>
            <a:pPr marL="0" indent="0">
              <a:buNone/>
            </a:pPr>
            <a:r>
              <a:rPr lang="ro-RO" dirty="0"/>
              <a:t>- litera cea mai frecventă în candidații posibili</a:t>
            </a:r>
          </a:p>
          <a:p>
            <a:pPr marL="0" indent="0">
              <a:buNone/>
            </a:pPr>
            <a:r>
              <a:rPr lang="ro-RO" dirty="0"/>
              <a:t>- reducerea spațiului de căutare după tipar</a:t>
            </a:r>
          </a:p>
          <a:p>
            <a:r>
              <a:rPr lang="ro-RO" dirty="0"/>
              <a:t>Complexitate: O(n * m) per pas (n = nr. cuvinte, m = lungime cuvânt)</a:t>
            </a:r>
          </a:p>
          <a:p>
            <a:r>
              <a:rPr lang="ro-RO" dirty="0"/>
              <a:t>Eficiență mai mare cu dicționare mici/medii</a:t>
            </a:r>
          </a:p>
        </p:txBody>
      </p:sp>
    </p:spTree>
    <p:extLst>
      <p:ext uri="{BB962C8B-B14F-4D97-AF65-F5344CB8AC3E}">
        <p14:creationId xmlns:p14="http://schemas.microsoft.com/office/powerpoint/2010/main" val="3515073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FA14DF8-F1F0-CC56-BB9C-C6F242182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sz="3600" dirty="0">
                <a:latin typeface="Bahnschrift SemiBold SemiConden" panose="020B0502040204020203" pitchFamily="34" charset="0"/>
              </a:rPr>
              <a:t>Soluția implementată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57895A98-89E1-85F7-B6CE-FFA09AA546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o-RO" dirty="0"/>
              <a:t>Arhitectură: procedural, cu funcții independente: </a:t>
            </a:r>
          </a:p>
          <a:p>
            <a:pPr marL="0" indent="0">
              <a:buNone/>
            </a:pPr>
            <a:r>
              <a:rPr lang="ro-RO" dirty="0"/>
              <a:t>- </a:t>
            </a:r>
            <a:r>
              <a:rPr lang="ro-RO" dirty="0" err="1"/>
              <a:t>normalizeaza_cuvant</a:t>
            </a:r>
            <a:r>
              <a:rPr lang="ro-RO" dirty="0"/>
              <a:t>() – normalizează text</a:t>
            </a:r>
          </a:p>
          <a:p>
            <a:pPr>
              <a:buFontTx/>
              <a:buChar char="-"/>
            </a:pPr>
            <a:r>
              <a:rPr lang="ro-RO" dirty="0" err="1"/>
              <a:t>filtreaza_candidati</a:t>
            </a:r>
            <a:r>
              <a:rPr lang="ro-RO" dirty="0"/>
              <a:t>() – reduce lista candidaților</a:t>
            </a:r>
          </a:p>
          <a:p>
            <a:pPr>
              <a:buFontTx/>
              <a:buChar char="-"/>
            </a:pPr>
            <a:r>
              <a:rPr lang="ro-RO" dirty="0" err="1"/>
              <a:t>cea_mai_frecventa_litera</a:t>
            </a:r>
            <a:r>
              <a:rPr lang="ro-RO" dirty="0"/>
              <a:t>() – alege litera probabilă</a:t>
            </a:r>
          </a:p>
          <a:p>
            <a:pPr>
              <a:buFontTx/>
              <a:buChar char="-"/>
            </a:pPr>
            <a:r>
              <a:rPr lang="ro-RO" dirty="0" err="1"/>
              <a:t>actualizeaza_tipar</a:t>
            </a:r>
            <a:r>
              <a:rPr lang="ro-RO" dirty="0"/>
              <a:t>() – actualizează tiparul curent</a:t>
            </a:r>
          </a:p>
          <a:p>
            <a:pPr marL="0" indent="0">
              <a:buNone/>
            </a:pPr>
            <a:r>
              <a:rPr lang="ro-RO" dirty="0"/>
              <a:t>Date: dicționar .</a:t>
            </a:r>
            <a:r>
              <a:rPr lang="ro-RO" dirty="0" err="1"/>
              <a:t>txt</a:t>
            </a:r>
            <a:r>
              <a:rPr lang="ro-RO" dirty="0"/>
              <a:t> cu cuvinte</a:t>
            </a:r>
          </a:p>
          <a:p>
            <a:pPr marL="0" indent="0">
              <a:buNone/>
            </a:pPr>
            <a:r>
              <a:rPr lang="ro-RO" dirty="0"/>
              <a:t>Algoritmi: iterativ, bazat pe filtrare + </a:t>
            </a:r>
            <a:r>
              <a:rPr lang="ro-RO" dirty="0" err="1"/>
              <a:t>heuristici</a:t>
            </a:r>
            <a:r>
              <a:rPr lang="ro-RO" dirty="0"/>
              <a:t> de frecvență</a:t>
            </a:r>
          </a:p>
          <a:p>
            <a:pPr marL="0" indent="0">
              <a:buNone/>
            </a:pPr>
            <a:r>
              <a:rPr lang="ro-RO" dirty="0"/>
              <a:t>Rezultate: Numărul total de încercări este 638</a:t>
            </a:r>
          </a:p>
        </p:txBody>
      </p:sp>
    </p:spTree>
    <p:extLst>
      <p:ext uri="{BB962C8B-B14F-4D97-AF65-F5344CB8AC3E}">
        <p14:creationId xmlns:p14="http://schemas.microsoft.com/office/powerpoint/2010/main" val="68499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C84F3CA-6854-985A-A4EB-A0C49CC3F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sz="3600" dirty="0">
                <a:latin typeface="Bahnschrift SemiBold SemiConden" panose="020B0502040204020203" pitchFamily="34" charset="0"/>
              </a:rPr>
              <a:t>Demonstrație scurtă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DED1A6B1-9846-AEE0-1B0D-24307FA2C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Tiparul</a:t>
            </a:r>
            <a:r>
              <a:rPr lang="en-US" dirty="0"/>
              <a:t>: b*********</a:t>
            </a:r>
          </a:p>
          <a:p>
            <a:pPr marL="0" indent="0">
              <a:buNone/>
            </a:pPr>
            <a:r>
              <a:rPr lang="en-US" dirty="0" err="1"/>
              <a:t>Cuv</a:t>
            </a:r>
            <a:r>
              <a:rPr lang="ro-RO" dirty="0" err="1"/>
              <a:t>ânt</a:t>
            </a:r>
            <a:r>
              <a:rPr lang="ro-RO" dirty="0"/>
              <a:t> țintă</a:t>
            </a:r>
            <a:r>
              <a:rPr lang="en-US" dirty="0"/>
              <a:t>: </a:t>
            </a:r>
            <a:r>
              <a:rPr lang="en-US" dirty="0" err="1"/>
              <a:t>bioenergia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Candida</a:t>
            </a:r>
            <a:r>
              <a:rPr lang="ro-RO" dirty="0"/>
              <a:t>ți</a:t>
            </a:r>
            <a:r>
              <a:rPr lang="en-US" dirty="0"/>
              <a:t>: </a:t>
            </a:r>
            <a:r>
              <a:rPr lang="en-US" dirty="0" err="1"/>
              <a:t>bioenergia</a:t>
            </a:r>
            <a:r>
              <a:rPr lang="en-US" dirty="0"/>
              <a:t>, </a:t>
            </a:r>
            <a:r>
              <a:rPr lang="en-US" dirty="0" err="1"/>
              <a:t>bioenergii</a:t>
            </a:r>
            <a:endParaRPr lang="ro-RO" dirty="0"/>
          </a:p>
        </p:txBody>
      </p:sp>
      <p:graphicFrame>
        <p:nvGraphicFramePr>
          <p:cNvPr id="9" name="Tabel 8">
            <a:extLst>
              <a:ext uri="{FF2B5EF4-FFF2-40B4-BE49-F238E27FC236}">
                <a16:creationId xmlns:a16="http://schemas.microsoft.com/office/drawing/2014/main" id="{C9C8C1B0-915E-0C4E-2E85-BF8E3BBE01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6355035"/>
              </p:ext>
            </p:extLst>
          </p:nvPr>
        </p:nvGraphicFramePr>
        <p:xfrm>
          <a:off x="2032000" y="3494637"/>
          <a:ext cx="8127999" cy="2998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97094678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92823002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59447642"/>
                    </a:ext>
                  </a:extLst>
                </a:gridCol>
              </a:tblGrid>
              <a:tr h="37477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Pas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Liter</a:t>
                      </a:r>
                      <a:r>
                        <a:rPr lang="ro-RO" dirty="0"/>
                        <a:t>ă aleasă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Tipar curent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0852982"/>
                  </a:ext>
                </a:extLst>
              </a:tr>
              <a:tr h="374779"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 err="1"/>
                        <a:t>bi</a:t>
                      </a:r>
                      <a:r>
                        <a:rPr lang="ro-RO" dirty="0"/>
                        <a:t>******i*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5458081"/>
                  </a:ext>
                </a:extLst>
              </a:tr>
              <a:tr h="374779"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 err="1"/>
                        <a:t>bi</a:t>
                      </a:r>
                      <a:r>
                        <a:rPr lang="ro-RO" dirty="0"/>
                        <a:t>*e*e**i*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5579144"/>
                  </a:ext>
                </a:extLst>
              </a:tr>
              <a:tr h="374779"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 err="1"/>
                        <a:t>bioe</a:t>
                      </a:r>
                      <a:r>
                        <a:rPr lang="ro-RO" dirty="0"/>
                        <a:t>*e**i*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7161314"/>
                  </a:ext>
                </a:extLst>
              </a:tr>
              <a:tr h="374779"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 err="1"/>
                        <a:t>bioe</a:t>
                      </a:r>
                      <a:r>
                        <a:rPr lang="ro-RO" dirty="0"/>
                        <a:t>*e**ia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0779639"/>
                  </a:ext>
                </a:extLst>
              </a:tr>
              <a:tr h="374779"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 err="1"/>
                        <a:t>bioene</a:t>
                      </a:r>
                      <a:r>
                        <a:rPr lang="ro-RO" dirty="0"/>
                        <a:t>**ia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2603187"/>
                  </a:ext>
                </a:extLst>
              </a:tr>
              <a:tr h="374779"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 err="1"/>
                        <a:t>bioener</a:t>
                      </a:r>
                      <a:r>
                        <a:rPr lang="ro-RO" dirty="0"/>
                        <a:t>*ia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7665405"/>
                  </a:ext>
                </a:extLst>
              </a:tr>
              <a:tr h="374779"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bioenergia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44889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8011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B92BF18-29D0-7B97-3AD6-738C64294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sz="3600" dirty="0">
                <a:latin typeface="Arial Black" panose="020B0A04020102020204" pitchFamily="34" charset="0"/>
              </a:rPr>
              <a:t>Limitări și direcții de îmbunătățire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B8344437-9190-D71A-A55B-498D7A06A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o-RO" i="1" dirty="0"/>
              <a:t>Limitări: </a:t>
            </a:r>
          </a:p>
          <a:p>
            <a:pPr marL="0" indent="0">
              <a:buNone/>
            </a:pPr>
            <a:r>
              <a:rPr lang="ro-RO" dirty="0"/>
              <a:t>Algoritm simplu, nu optimizat pentru dicționare mari (&gt;10k cuvinte). Nu </a:t>
            </a:r>
            <a:r>
              <a:rPr lang="ro-RO" dirty="0" err="1"/>
              <a:t>prioritizează</a:t>
            </a:r>
            <a:r>
              <a:rPr lang="ro-RO" dirty="0"/>
              <a:t> strategii „umane” fără ajustări suplimentare. Fără interfață interactivă implicit.</a:t>
            </a:r>
          </a:p>
          <a:p>
            <a:pPr marL="0" indent="0">
              <a:buNone/>
            </a:pPr>
            <a:r>
              <a:rPr lang="ro-RO" i="1" dirty="0"/>
              <a:t>Direcții de îmbunătățire: </a:t>
            </a:r>
          </a:p>
          <a:p>
            <a:pPr>
              <a:buFontTx/>
              <a:buChar char="-"/>
            </a:pPr>
            <a:r>
              <a:rPr lang="ro-RO" dirty="0" err="1"/>
              <a:t>Hash</a:t>
            </a:r>
            <a:r>
              <a:rPr lang="ro-RO" dirty="0"/>
              <a:t> </a:t>
            </a:r>
            <a:r>
              <a:rPr lang="ro-RO" dirty="0" err="1"/>
              <a:t>caching</a:t>
            </a:r>
            <a:r>
              <a:rPr lang="ro-RO" dirty="0"/>
              <a:t> pentru viteză</a:t>
            </a:r>
          </a:p>
          <a:p>
            <a:pPr>
              <a:buFontTx/>
              <a:buChar char="-"/>
            </a:pPr>
            <a:r>
              <a:rPr lang="ro-RO" dirty="0" err="1"/>
              <a:t>Prioritizarea</a:t>
            </a:r>
            <a:r>
              <a:rPr lang="ro-RO" dirty="0"/>
              <a:t> literelor frecvente în limba română.</a:t>
            </a:r>
          </a:p>
          <a:p>
            <a:pPr marL="0" indent="0">
              <a:buNone/>
            </a:pPr>
            <a:r>
              <a:rPr lang="ro-RO" dirty="0"/>
              <a:t>- Transformare într-un bot interactiv.</a:t>
            </a:r>
          </a:p>
          <a:p>
            <a:pPr marL="0" indent="0">
              <a:buNone/>
            </a:pPr>
            <a:r>
              <a:rPr lang="ro-RO" dirty="0"/>
              <a:t>- Extindere la OOP pentru </a:t>
            </a:r>
            <a:r>
              <a:rPr lang="ro-RO" dirty="0" err="1"/>
              <a:t>scalabilitate</a:t>
            </a:r>
            <a:r>
              <a:rPr lang="ro-RO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98929440"/>
      </p:ext>
    </p:extLst>
  </p:cSld>
  <p:clrMapOvr>
    <a:masterClrMapping/>
  </p:clrMapOvr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360</Words>
  <Application>Microsoft Office PowerPoint</Application>
  <PresentationFormat>Ecran lat</PresentationFormat>
  <Paragraphs>65</Paragraphs>
  <Slides>7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6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7</vt:i4>
      </vt:variant>
    </vt:vector>
  </HeadingPairs>
  <TitlesOfParts>
    <vt:vector size="14" baseType="lpstr">
      <vt:lpstr>Arial</vt:lpstr>
      <vt:lpstr>Arial Black</vt:lpstr>
      <vt:lpstr>Arial Rounded MT Bold</vt:lpstr>
      <vt:lpstr>Bahnschrift SemiBold SemiConden</vt:lpstr>
      <vt:lpstr>Calibri</vt:lpstr>
      <vt:lpstr>Calibri Light</vt:lpstr>
      <vt:lpstr>Temă Office</vt:lpstr>
      <vt:lpstr>Algoritmul Procedural Spânzurătoarea  </vt:lpstr>
      <vt:lpstr>Descriere generală a proiectului</vt:lpstr>
      <vt:lpstr>Tehnologii utilizate</vt:lpstr>
      <vt:lpstr>Analiza jocului Spânzurătoarea</vt:lpstr>
      <vt:lpstr>Soluția implementată</vt:lpstr>
      <vt:lpstr>Demonstrație scurtă</vt:lpstr>
      <vt:lpstr>Limitări și direcții de îmbunătățire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Alexandra Tania Bodi (cas. Podut)</dc:creator>
  <cp:lastModifiedBy>Alexandra Tania Bodi (cas. Podut)</cp:lastModifiedBy>
  <cp:revision>3</cp:revision>
  <dcterms:created xsi:type="dcterms:W3CDTF">2025-10-20T09:34:04Z</dcterms:created>
  <dcterms:modified xsi:type="dcterms:W3CDTF">2025-12-08T08:02:47Z</dcterms:modified>
</cp:coreProperties>
</file>